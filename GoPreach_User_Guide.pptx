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532120"/>
            <a:ext cx="12191695" cy="8229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20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GOPREACH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Guide, Rules &amp; Restrictions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use the ministry reporting system — and the policies that govern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86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ALL ROLES · PUBLISHER TO SUPER-ADMIN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868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E3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Getting Started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71600" y="2167128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Signing in, first-time login, temporary credentials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4448" y="1783080"/>
            <a:ext cx="868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E3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93128" y="1801368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 &amp; Dashboards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93128" y="2167128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do what, and what each Home screen shows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868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E3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371600" y="3218688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Ministry Pipeline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71600" y="3584448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Searching → Return Visit → Bible Study, and Transfer Requests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4448" y="3200400"/>
            <a:ext cx="868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E3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193128" y="3218688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Monthly Reports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193128" y="3584448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Submitting, reviewing, and posting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68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E3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371600" y="4636008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 &amp; Notifications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71600" y="5001768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Dashboards, exports, real-time alerts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4448" y="4617720"/>
            <a:ext cx="868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E3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193128" y="4636008"/>
            <a:ext cx="449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Rules &amp; Restrictions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93128" y="5001768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scope, editing limits, account security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GoPreach?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digital replacement for the congregation's paper ministry records — Searching, Return Visit, Bible Study, Monthly Reports, Meeting Assignments, Territories, and Announcements.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Offline-first: every save works instantly, with or without a signal, and syncs automatically once you're back online.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Role-based: what you see and can do depends on your role — Publisher, Elder, Service Overseer, Admin, or Super-Admin.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Multi-language: available in English, Filipino (Tagalog), and Iloko (Ilocano) — switch anytime in Settings.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Signing 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your Username and Password — not an email address.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on Remember Me to stay signed in on this device.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your first sign-in, you can enable Biometric Sign-In (fingerprint/face) for faster access.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your password? There is no self-service email reset — contact whoever enrolled you (your Admin or Elder) to have it reset.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First Sign-In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960120" cy="96012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0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Temporary Login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0" y="37673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the username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password you were given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72768" y="2811780"/>
            <a:ext cx="222900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11498" y="2331720"/>
            <a:ext cx="960120" cy="9601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911498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3408578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 Your Own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08578" y="37673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permanent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&amp; password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81346" y="2811780"/>
            <a:ext cx="222900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20077" y="2331720"/>
            <a:ext cx="960120" cy="960120"/>
          </a:xfrm>
          <a:prstGeom prst="ellipse">
            <a:avLst/>
          </a:prstGeom>
          <a:solidFill>
            <a:srgbClr val="C98A1B"/>
          </a:solidFill>
          <a:ln/>
        </p:spPr>
      </p:sp>
      <p:sp>
        <p:nvSpPr>
          <p:cNvPr id="17" name="Text 15"/>
          <p:cNvSpPr/>
          <p:nvPr/>
        </p:nvSpPr>
        <p:spPr>
          <a:xfrm>
            <a:off x="7320077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🚪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817157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Signed Out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17157" y="37673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signs you out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89925" y="2811780"/>
            <a:ext cx="222900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728655" y="2331720"/>
            <a:ext cx="960120" cy="9601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10728655" y="231343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225735" y="3401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 In Again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25735" y="376732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your new,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 credentials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71500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FF7E8"/>
          </a:solidFill>
          <a:ln w="12700">
            <a:solidFill>
              <a:srgbClr val="F0D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715000"/>
            <a:ext cx="107286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Rule: a temporary credential is single-use — this step cannot be skipped, delayed, or bypassed.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1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 At A Glance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637611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Sees Data From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Typically Do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Their own records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 Searching/Return Visit/Bible Study, submit Monthly Report, keep a Bible Text Record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Ministerial Servant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congregation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 reports, meeting assignments, and notifications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Regular Elder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congregation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 meeting assignments; view reports and transfers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Overseer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congregation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incoming transfer requests; Post Monthly Reports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Coordinator Elder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congregation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congregation management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congregation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congregation management, incl. user accounts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Super-Admin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congregation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Everything above, plus permanent deletion anywhere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Restricted User (grant)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what's granted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Exactly the permissions &amp; congregations an Admin/Super-Admin assigned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1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Far Can Each Role See?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337560" y="1783080"/>
            <a:ext cx="6035040" cy="4206240"/>
          </a:xfrm>
          <a:prstGeom prst="roundRect">
            <a:avLst>
              <a:gd name="adj" fmla="val 3043"/>
            </a:avLst>
          </a:prstGeom>
          <a:solidFill>
            <a:srgbClr val="EAF1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947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565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SUPER-ADMIN  ·  every congregation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4820" y="2468880"/>
            <a:ext cx="4160520" cy="3154680"/>
          </a:xfrm>
          <a:prstGeom prst="roundRect">
            <a:avLst>
              <a:gd name="adj" fmla="val 4058"/>
            </a:avLst>
          </a:prstGeom>
          <a:solidFill>
            <a:srgbClr val="E9F5EC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9140" y="263347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· ELDERS · SERVICE OVERSEER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spc="50" kern="0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their own congregation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89220" y="3337560"/>
            <a:ext cx="2331720" cy="1965960"/>
          </a:xfrm>
          <a:prstGeom prst="roundRect">
            <a:avLst>
              <a:gd name="adj" fmla="val 6512"/>
            </a:avLst>
          </a:prstGeom>
          <a:solidFill>
            <a:srgbClr val="FDF3E3"/>
          </a:solidFill>
          <a:ln w="19050">
            <a:solidFill>
              <a:srgbClr val="C98A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2100" y="39547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98A1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98A1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their own records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75520" y="2331720"/>
            <a:ext cx="1813255" cy="1737360"/>
          </a:xfrm>
          <a:prstGeom prst="roundRect">
            <a:avLst>
              <a:gd name="adj" fmla="val 7368"/>
            </a:avLst>
          </a:prstGeom>
          <a:solidFill>
            <a:srgbClr val="FBEAE9"/>
          </a:solidFill>
          <a:ln w="19050">
            <a:solidFill>
              <a:srgbClr val="B3261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104120" y="2514600"/>
            <a:ext cx="1356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RESTRICTED USER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(e.g. Circuit Overseer)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04120" y="3017520"/>
            <a:ext cx="13560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Sees only the exact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congregations &amp; permissions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listed in their access grant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27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more.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ACCESS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HOME SCREEN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Publisher Dashboard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sync-status card shows whether your changes are saved to the server or still pending.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tiles give one-tap access to Searching, Return Visit, Bible Study, Monthly Report, Meeting &amp; Cart Assignment, Group Chat, My Bible Text Record, Preaching Time, and Calendar.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bell icon (top bar) shows a badge with your unread notification count.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bottom navigation bar keeps your most-used screens one tap away.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DASHBOARDS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HOME SCREEN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/ Elder Dashboard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graphical Reports Summary — KPI cards and charts for publishers, elders, Bible studies, and preaching hours.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Actions for the tasks you use most: Manage Publisher Reports, Announcements, Territories, and more.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incoming Transfer Request queue for anything awaiting your review.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strictly to your own congregation — a Super-Admin is the only role that sees every congregation at once.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&amp; DASHBOARDS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1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MINISTRY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Searching → Return Visit → Bible Study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6324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CB6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743200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Searching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39312" y="2834640"/>
            <a:ext cx="3566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69080" y="214884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465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CB6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33672" y="2743200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Return Visit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22592" y="2834640"/>
            <a:ext cx="3566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214884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22128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298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CB6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16952" y="2743200"/>
            <a:ext cx="2551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Bible Study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3977640"/>
            <a:ext cx="111858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person under Searching with their name, address, and details.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every visit — outcome, date, and notes — building a full visit history per person.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a record forward or backward exactly one stage at a time using Move to ‹Stage›.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can also be forwarded to another congregation or another publisher — see the next slide.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MINISTRY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1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REQUESTS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Forwarding a Record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to Other Congregation/Group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reviewed &amp; assigned by the receiving Service Overseer.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to Other Publisher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 direct same-congregation hand-off.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Request Sent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14600" y="3131820"/>
            <a:ext cx="59436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27432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C98A1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5120640" y="3131820"/>
            <a:ext cx="822960" cy="-1325880"/>
          </a:xfrm>
          <a:prstGeom prst="bentConnector3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0" y="14173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2225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90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✅ Accepted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8013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side approved it — record moves over.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3131820"/>
            <a:ext cx="822960" cy="0"/>
          </a:xfrm>
          <a:prstGeom prst="bentConnector3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274320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✕ Declined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127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Receiving side rejected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3131820"/>
            <a:ext cx="822960" cy="1325880"/>
          </a:xfrm>
          <a:prstGeom prst="bentConnector3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406908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2225">
            <a:solidFill>
              <a:srgbClr val="5B64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142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↩ Cancelled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44531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 withdrew it — only while still Pending.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71500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FF7E8"/>
          </a:solidFill>
          <a:ln w="12700">
            <a:solidFill>
              <a:srgbClr val="F0D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715000"/>
            <a:ext cx="107286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4E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Accepted or Declined, that decision is final — there is no undo.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REQUESTS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8A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8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 Lifecycle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your Bible Studies count each month, plus either your Hours (Pioneers) or Participated in Preaching (Regular Publishers) — with an optional Remarks note.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051560" cy="105156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7919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0" y="3858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Draft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0" y="42245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Being filled 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64208" y="3223260"/>
            <a:ext cx="379613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0068" y="2697480"/>
            <a:ext cx="1051560" cy="1051560"/>
          </a:xfrm>
          <a:prstGeom prst="ellipse">
            <a:avLst/>
          </a:prstGeom>
          <a:solidFill>
            <a:srgbClr val="C98A1B"/>
          </a:solidFill>
          <a:ln/>
        </p:spPr>
      </p:sp>
      <p:sp>
        <p:nvSpPr>
          <p:cNvPr id="13" name="Text 11"/>
          <p:cNvSpPr/>
          <p:nvPr/>
        </p:nvSpPr>
        <p:spPr>
          <a:xfrm>
            <a:off x="5570068" y="267919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📤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5067148" y="3858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Submitted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67148" y="42245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 for 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31356" y="3223260"/>
            <a:ext cx="3796132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37215" y="2697480"/>
            <a:ext cx="1051560" cy="10515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10637215" y="2679192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0134295" y="3858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34295" y="42245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by Service Overseer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6118708" cy="384048"/>
          </a:xfrm>
          <a:prstGeom prst="roundRect">
            <a:avLst>
              <a:gd name="adj" fmla="val 19048"/>
            </a:avLst>
          </a:prstGeom>
          <a:solidFill>
            <a:srgbClr val="E9F5E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892040"/>
            <a:ext cx="61187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EDITABLE BY THE PUBLISHER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58788" y="4892040"/>
            <a:ext cx="4929988" cy="384048"/>
          </a:xfrm>
          <a:prstGeom prst="roundRect">
            <a:avLst>
              <a:gd name="adj" fmla="val 19048"/>
            </a:avLst>
          </a:prstGeom>
          <a:solidFill>
            <a:srgbClr val="FBEAE9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8788" y="4892040"/>
            <a:ext cx="4929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326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LOCKED — PUBLISHER CANNOT EDIT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5321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 Service Overseer, Admin, Coordinator Elder, or Super-Admin can Mark as Posted, or Unlock a report again.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8A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8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Reviewing &amp; Posting Reports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Publisher Reports lets you browse All reports, or filter By Publisher / By Congregation.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a report directly, Unlock one you've already Posted, or Mark as Posted to lock it.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— bulk-posts every Submitted report currently shown, in one tap, once the month is done.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Permanently deleting a report is Super-Admin only.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98A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8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 &amp; Dashboards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Summary — totals for one group or every group in your congregation, for any date range.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Monthly Report — a per-publisher breakdown; tap any name to see their Bible Study, Return Visit, and Preaching Time records.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Dashboard — KPI cards and charts, with a congregation-to-congregation comparison for Super-Admin.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report screen can Export to PDF (print) or Excel (CSV, opens in any spreadsheet app).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NOTIFICATIONS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ALERTS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 Notification Reaches You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☁️  Firebase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listener detects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Transfer Request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Announcement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3383280"/>
            <a:ext cx="7315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2880360"/>
            <a:ext cx="1005840" cy="10058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8620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886200" y="3959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Notification Center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6355080" y="3383280"/>
            <a:ext cx="868680" cy="-539496"/>
          </a:xfrm>
          <a:prstGeom prst="bentConnector3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2560320"/>
            <a:ext cx="2606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5603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Sound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383280"/>
            <a:ext cx="868680" cy="0"/>
          </a:xfrm>
          <a:prstGeom prst="bentConnector3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3099816"/>
            <a:ext cx="2606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9050">
            <a:solidFill>
              <a:srgbClr val="C98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09981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📱  Popup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383280"/>
            <a:ext cx="868680" cy="539496"/>
          </a:xfrm>
          <a:prstGeom prst="bentConnector3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3639312"/>
            <a:ext cx="26060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363931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🔴  Badge Count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89204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a notification to open the exact record it's about.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Requests ring at high priority; Announcements use a lighter, normal one.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→ Notifications lets you turn sound, popups, or a whole category on or off — and each item can be dismissed, or cleared all at once.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ALERTS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THE FIELD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 &amp; Connectivity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31860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Multi-Language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67852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→ Language: choose English, Filipino (Tagalog), or Iloko (Ilocano).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app switches instantly — no restart needed.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person's choice is personal, saved to their own profile, and follows them to any device they sign into.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70168" y="1783080"/>
            <a:ext cx="5318608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201168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Works Offline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918808" y="2606040"/>
            <a:ext cx="42213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5B64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1688" y="2660904"/>
            <a:ext cx="385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📴  Working Offline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01688" y="2935224"/>
            <a:ext cx="385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save works instantly, no signal needed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29471" y="3172968"/>
            <a:ext cx="0" cy="438912"/>
          </a:xfrm>
          <a:prstGeom prst="line">
            <a:avLst/>
          </a:prstGeom>
          <a:noFill/>
          <a:ln w="25400">
            <a:solidFill>
              <a:srgbClr val="5B6472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18808" y="3611880"/>
            <a:ext cx="42213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C98A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1688" y="3666744"/>
            <a:ext cx="385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📶  Connection Returns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01688" y="3941064"/>
            <a:ext cx="385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automatically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29471" y="4178808"/>
            <a:ext cx="0" cy="438912"/>
          </a:xfrm>
          <a:prstGeom prst="line">
            <a:avLst/>
          </a:prstGeom>
          <a:noFill/>
          <a:ln w="25400">
            <a:solidFill>
              <a:srgbClr val="C98A1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18808" y="4617720"/>
            <a:ext cx="42213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1688" y="4672584"/>
            <a:ext cx="385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☁️  Synced to 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01688" y="4946904"/>
            <a:ext cx="385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tap Sync to Server anytime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THE FIELD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1A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Rules &amp; Restrictions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 role can and cannot do — and why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A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Access &amp; Congregation 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only ever see your own congregation's data — the Super-Admin is the sole role that sees every congregation at once.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restricted, grant-based user (e.g. a Circuit Overseer) sees exactly the permissions and congregations their access grant lists — nothing more.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data — like a publisher's own Bible Text Record — is private to that publisher alone; not even an Admin can see it.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role change (new assignment, revoked access) takes effect the next time you sign 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A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Editing &amp; Deleting Records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a record moves it to Inactive first — it's hidden, not gone, and can be reactivated.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Permanently deleting a record — anywhere in the app — is Super-Admin only.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 Monthly Report is Posted, the publisher it belongs to can no longer edit it themselves.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 Service Overseer, Admin, Coordinator Elder, or Super-Admin may Mark a report as Posted, or Unlock one again.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A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Account Security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Changing your own username or password always requires your current password first.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Changing your password signs you out immediately — you must log back in with the new one.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first-time, temporary-credential login forces a permanent username &amp; password change, then a fresh sign-in — this cannot be skipped.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share your login credentials with another publisher, even temporarily.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A8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Request Rules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person who sent a transfer request may cancel it.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can only be cancelled while it is still Pending.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a request has been Accepted or Declined, that decision is final — there is no undo.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receiving side only ever sees requests addressed to their own congregation, or to them personally.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&amp; RESTRICTIONS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1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HABITS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Tips For Everyday Use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manually before heading somewhere with poor signal, so nothing is left waiting to upload.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notification bell daily — Transfer Requests and Announcements need timely attention.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your Monthly Report before month-end rather than waiting until the last day.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Settings to set your preferred language, notification sound, and theme once — it stays that 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WRAPPING 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1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HELP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Support &amp; Troubleshooting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1185855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your password? Ask whoever enrolled you (your Admin or Elder) — there is no self-service email reset.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a bug or missing a feature? Report it to your congregation's Admin.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check for the latest version, go to Settings → App Version.</a:t>
            </a:r>
            <a:endParaRPr lang="en-US" sz="1600" dirty="0"/>
          </a:p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anything else, your Admin or Coordinator Elder is always your first point of contact.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WRAPPING 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237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User Guide &amp; Policies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C3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Ask your Admin or Coordinator Elder.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86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GOPREACH — MINISTRY REPORTING &amp; CONGREGATION MANAGEMENT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2026-09-06T01:00:02Z</dcterms:created>
  <dcterms:modified xsi:type="dcterms:W3CDTF">2026-09-06T01:00:02Z</dcterms:modified>
</cp:coreProperties>
</file>